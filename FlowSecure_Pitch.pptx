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EF5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E8EEF5"/>
                </a:solidFill>
                <a:latin typeface="Georgia"/>
              </a:rPr>
              <a:t>Actual 8-week loss ratio — 13 cities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ratio (%)</c:v>
                </c:pt>
              </c:strCache>
            </c:strRef>
          </c:tx>
          <c:spPr>
            <a:solidFill>
              <a:srgbClr val="14B8A6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Indore</c:v>
                  </c:pt>
                  <c:pt idx="1">
                    <c:v>Lucknow</c:v>
                  </c:pt>
                  <c:pt idx="2">
                    <c:v>Bhopal</c:v>
                  </c:pt>
                  <c:pt idx="3">
                    <c:v>Jaipur</c:v>
                  </c:pt>
                  <c:pt idx="4">
                    <c:v>Pune</c:v>
                  </c:pt>
                  <c:pt idx="5">
                    <c:v>Patna</c:v>
                  </c:pt>
                  <c:pt idx="6">
                    <c:v>Hyderabad</c:v>
                  </c:pt>
                  <c:pt idx="7">
                    <c:v>Ahmedabad</c:v>
                  </c:pt>
                  <c:pt idx="8">
                    <c:v>Chennai</c:v>
                  </c:pt>
                  <c:pt idx="9">
                    <c:v>Kolkata</c:v>
                  </c:pt>
                  <c:pt idx="10">
                    <c:v>Mumbai</c:v>
                  </c:pt>
                  <c:pt idx="11">
                    <c:v>Bangalore</c:v>
                  </c:pt>
                  <c:pt idx="12">
                    <c:v>Delhi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7.88</c:v>
                </c:pt>
                <c:pt idx="1">
                  <c:v>8.46</c:v>
                </c:pt>
                <c:pt idx="2">
                  <c:v>8.66</c:v>
                </c:pt>
                <c:pt idx="3">
                  <c:v>9.11</c:v>
                </c:pt>
                <c:pt idx="4">
                  <c:v>9.45</c:v>
                </c:pt>
                <c:pt idx="5">
                  <c:v>9.73</c:v>
                </c:pt>
                <c:pt idx="6">
                  <c:v>10.41</c:v>
                </c:pt>
                <c:pt idx="7">
                  <c:v>10.92</c:v>
                </c:pt>
                <c:pt idx="8">
                  <c:v>11.57</c:v>
                </c:pt>
                <c:pt idx="9">
                  <c:v>12.58</c:v>
                </c:pt>
                <c:pt idx="10">
                  <c:v>12.77</c:v>
                </c:pt>
                <c:pt idx="11">
                  <c:v>13.27</c:v>
                </c:pt>
                <c:pt idx="12">
                  <c:v>14.41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D54"/>
        </a:solidFill>
        <a:ln>
          <a:noFill/>
        </a:ln>
        <a:effectLst/>
      </c:spPr>
    </c:plotArea>
    <c:plotVisOnly val="1"/>
    <c:dispBlanksAs val="span"/>
  </c:chart>
  <c:spPr>
    <a:solidFill>
      <a:srgbClr val="132D5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FLOWSECURE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58368" y="2395728"/>
            <a:ext cx="54864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Income Protection for India's Delivery Workforce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  ·   Optimize   ·   Protect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 ·  Auto-Payout  ·  Zero-Documentation Claims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city stops moving, riders stop earning.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749040" cy="26060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" cy="2606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13,000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modelled across 13 Indian cities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per order. No base pay. No sick leave. No safety net when the weather, air, or traffic makes the shift unworkable.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4114800" cy="804672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28800"/>
            <a:ext cx="54864" cy="8046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20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17627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to 120 mm, heat to 50°C, AQI to 700+, fog visibility to 50 m. Six trigger types, 4-level severity ladders.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2724912"/>
            <a:ext cx="4114800" cy="804672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724912"/>
            <a:ext cx="54864" cy="8046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8163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07238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bandh → full bandh → Section 144. Traffic-speed collapse below 5 km/h. Zones go dark for hours, not minutes.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3621024"/>
            <a:ext cx="4114800" cy="804672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3621024"/>
            <a:ext cx="54864" cy="8046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7124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96849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 floor. Our seeded ledger shows 11,097 claim-worthy disruption events in just 8 weeks across the 13 cities.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FlowSecure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FlowSecure had to be built from scratch.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INSURANCE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FLOWSECURE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023360" cy="65836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54864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2996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Documentation-gated claims — bills, FIRs, employer letters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931920" cy="65836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920240"/>
            <a:ext cx="54864" cy="6583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0299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Zero-documentation: oracle confirms, payout fires automatically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4023360" cy="65836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70048"/>
            <a:ext cx="54864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797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Days-to-weeks adjuster review before any money moves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670048"/>
            <a:ext cx="3931920" cy="65836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670048"/>
            <a:ext cx="54864" cy="6583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77977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Minutes-level disbursement via Razorpay → rider UPI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19856"/>
            <a:ext cx="4023360" cy="65836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419856"/>
            <a:ext cx="54864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295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generic premium hides fraud cost — priced out of reach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419856"/>
            <a:ext cx="3931920" cy="65836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419856"/>
            <a:ext cx="54864" cy="6583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5295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9-wall fraud gate + XGBoost score keeps loss ratio in check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69664"/>
            <a:ext cx="4023360" cy="65836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69664"/>
            <a:ext cx="54864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793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annual cover ignores the real shape of gig income loss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4169664"/>
            <a:ext cx="3931920" cy="65836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4169664"/>
            <a:ext cx="54864" cy="6583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42793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× month × zone-tier pricing on a 10-year IMD/CPCB baseline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FlowSecure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Predict. Optimize. Protect.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stack. Payout is the last resort — not the product.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278892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2788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9808" y="2788920"/>
            <a:ext cx="2743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zone-level disruption forecast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AQI, traffic, and civic signals fused into a per-zone risk score. Riders and ops see what's coming before it arrives.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697480" cy="278892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965960"/>
            <a:ext cx="54864" cy="2788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538728" y="2788920"/>
            <a:ext cx="2743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shift recommendations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risk spikes, the optimizer suggests alternate shift windows, zone swaps, and surge pockets — so riders avoid the loss before it happens.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697480" cy="278892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965960"/>
            <a:ext cx="54864" cy="2788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327648" y="2788920"/>
            <a:ext cx="27432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auto-payout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thresholds breach anyway, an oracle confirms and Razorpay disburses directly to the rider's UPI. Zero forms. Zero adjuster. Payout in minutes.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FlowSecure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parametric triggers. One deterministic payout.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536192" cy="4572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Feed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89404" y="160020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4560" y="1600200"/>
            <a:ext cx="1536192" cy="4572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Breach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35324" y="160020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40480" y="1600200"/>
            <a:ext cx="1536192" cy="4572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Confirms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81244" y="160020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0" y="1600200"/>
            <a:ext cx="1536192" cy="4572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Walls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27164" y="160020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0" y="1600200"/>
            <a:ext cx="1536192" cy="4572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UPI Payout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2670048" cy="10058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31720"/>
            <a:ext cx="54864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4414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Rainfall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274320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→ 80 → 100 → 120 mm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0449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severity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28416" y="2331720"/>
            <a:ext cx="2670048" cy="10058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28416" y="2331720"/>
            <a:ext cx="54864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3511296" y="24414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11296" y="274320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→ 47 → 50 °C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11296" y="30449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severity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08192" y="2331720"/>
            <a:ext cx="2670048" cy="10058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08192" y="2331720"/>
            <a:ext cx="54864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291072" y="24414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91072" y="274320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→ 600 → 700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1072" y="30449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severity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3447288"/>
            <a:ext cx="2670048" cy="10058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447288"/>
            <a:ext cx="54864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55701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Fog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38587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→ 200 → 50 m visibility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1605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severity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28416" y="3447288"/>
            <a:ext cx="2670048" cy="10058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28416" y="3447288"/>
            <a:ext cx="54864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3511296" y="355701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511296" y="38587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/ &lt; 5 km/h · ≥ 2 hrs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11296" y="41605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collapse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08192" y="3447288"/>
            <a:ext cx="2670048" cy="10058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08192" y="3447288"/>
            <a:ext cx="54864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5" name="Text 43"/>
          <p:cNvSpPr/>
          <p:nvPr/>
        </p:nvSpPr>
        <p:spPr>
          <a:xfrm>
            <a:off x="6291072" y="355701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291072" y="38587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Bandh → Full Bandh → §144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91072" y="41605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severity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FlowSecure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surfaces. One parametric core.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023360" cy="93268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" cy="9326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Rider Web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Tailwind.  OTP login, live risk, payouts ledger.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023360" cy="93268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54864" cy="9326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62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Web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console.  Platform stats, live claim feed, fraud graph, actuarial.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4023360" cy="932688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54864" cy="9326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13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 App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251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wallet, push alerts, offline-tolerant claim flow.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3977640" cy="713232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691640"/>
            <a:ext cx="54864" cy="7132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020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async · Supabase Postgres · 68 endpoints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496312"/>
            <a:ext cx="3977640" cy="713232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496312"/>
            <a:ext cx="54864" cy="7132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825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fraud model · Monte Carlo actuarial engine · trigger oracles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300984"/>
            <a:ext cx="3977640" cy="713232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300984"/>
            <a:ext cx="54864" cy="7132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630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sandbox · OpenWeatherMap · Google OAuth · Twilio 2FA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4105656"/>
            <a:ext cx="3977640" cy="713232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4105656"/>
            <a:ext cx="54864" cy="7132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 seeded riders · 13 cities · 8 weeks of ledger history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FlowSecure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walls between a claim and a payout.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payouts are fast — which makes fraud attractive. Each wall runs in milliseconds, in parallel, before disbursement.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70048" cy="9144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0992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71907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99339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history sanity — can't claim for a shift you didn't work.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0128" y="1600200"/>
            <a:ext cx="2670048" cy="9144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60020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170992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95928" y="171907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 Fingerprint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95928" y="199339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IMEI, SIM, sensor entropy to catch emulators and shared devices.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600200"/>
            <a:ext cx="2670048" cy="9144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160020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70992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57416" y="171907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Intelligence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57416" y="199339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breadcrumb plausibility vs claimed disruption zone.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606040"/>
            <a:ext cx="2670048" cy="9144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60604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71576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34440" y="272491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 Oracle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299923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riders corroborate — a 'bandh' with 200 active deliveries isn't one.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0128" y="2606040"/>
            <a:ext cx="2670048" cy="9144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260604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3447288" y="271576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995928" y="272491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Network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95928" y="299923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Syndicate detection: ring-patterns across phone, UPI, device, zone.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71616" y="2606040"/>
            <a:ext cx="2670048" cy="9144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71616" y="260604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208776" y="271576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757416" y="272491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Patterns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57416" y="299923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and cadence anomalies vs the rider's 8-week baseline.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3611880"/>
            <a:ext cx="2670048" cy="9144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361188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372160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234440" y="373075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Multi-Source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34440" y="400507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weather claim against IMD + OpenWeather + AQI feeds.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10128" y="3611880"/>
            <a:ext cx="2670048" cy="9144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10128" y="361188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3447288" y="372160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3995928" y="373075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Fraud Score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995928" y="400507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classifier, 19 features, 300 estimators. Returns probability 0–100.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71616" y="3611880"/>
            <a:ext cx="2670048" cy="91440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71616" y="361188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7" name="Text 45"/>
          <p:cNvSpPr/>
          <p:nvPr/>
        </p:nvSpPr>
        <p:spPr>
          <a:xfrm>
            <a:off x="6208776" y="372160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6757416" y="373075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Human-in-Loop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57416" y="4005072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70 routes to admin review in the claims console.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FlowSecure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LEDGER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weeks. Thirteen cities. One honest ledger.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are from the seeded database shipped with the repo — not projections.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965960" cy="7772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54864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396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11,097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processed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103120"/>
            <a:ext cx="1965960" cy="7772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2103120"/>
            <a:ext cx="54864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1396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₹48.4L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collected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1965960" cy="7772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103120"/>
            <a:ext cx="54864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1396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₹5.4L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 riders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103120"/>
            <a:ext cx="1965960" cy="77724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2103120"/>
            <a:ext cx="54864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1396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11.17%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2084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loss ratio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48640" y="2926080"/>
          <a:ext cx="52120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943600" y="2971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₹46.52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weekly premium per rider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43600" y="34015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10-year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315200" y="3447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· CPCB · TomTom baseline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43600" y="38313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26-week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15200" y="3877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Monte Carlo horizon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0" y="42611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315200" y="4306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 ledger refresh, per city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FlowSecure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we built that aren't on the shelf.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023360" cy="141732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47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Predict-Optimize-Protect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parametric products stop at 'pay when bad thing happens.' We add a prevention layer: 72-hour risk forecasts trigger shift recommendations, reducing loss before it occurs.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4023360" cy="141732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3736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47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Syndicate Graph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fraud checks miss collusion. Our graph wall links phones, UPIs, devices, and zones — flagging coordinated ring attacks that look clean at the row level.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4023360" cy="141732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472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685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Zero-Documentation Claim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fires from deterministic oracles (weather APIs, AQI, traffic), not claim forms. A rider in a hit zone receives payout without opening the app — the opposite of how insurance usually works.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4023360" cy="141732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33756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4472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685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₹ Economies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37760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Sub-₹50/week premium tier. UPI-native disbursement. Multi-language copy. Works on feature phones via Twilio fallback. The product respects the wallet of the worker.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FlowSecure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DEMO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fully working prototype.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mockup. Not slides. A live system with real seeded data, sandbox payments, and an admin dashboard a judge can click through in two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011680" cy="109728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88036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riders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880360"/>
            <a:ext cx="2011680" cy="109728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288036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06040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880360"/>
            <a:ext cx="2011680" cy="109728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88036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63440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2880360"/>
            <a:ext cx="2011680" cy="1097280"/>
          </a:xfrm>
          <a:prstGeom prst="rect">
            <a:avLst/>
          </a:prstGeom>
          <a:solidFill>
            <a:srgbClr val="132D54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288036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20840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 + Flutter app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access code: </a:t>
            </a:r>
            <a:pPr algn="l" indent="0" marL="0">
              <a:buNone/>
            </a:pPr>
            <a:r>
              <a:rPr lang="en-US" sz="13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GUIDEWIRE2026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algn="l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./setup.sh  &amp;&amp;  ./start.sh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FlowSecure   ·   Predict · Optimize · Protect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773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FlowSecure — Pitch Deck</dc:title>
  <dc:subject>PptxGenJS Presentation</dc:subject>
  <dc:creator>FlowSecure</dc:creator>
  <cp:lastModifiedBy>FlowSecure</cp:lastModifiedBy>
  <cp:revision>1</cp:revision>
  <dcterms:created xsi:type="dcterms:W3CDTF">2026-04-18T01:07:47Z</dcterms:created>
  <dcterms:modified xsi:type="dcterms:W3CDTF">2026-04-18T01:07:47Z</dcterms:modified>
</cp:coreProperties>
</file>